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741f1d7b654b8f" /><Relationship Type="http://schemas.openxmlformats.org/officeDocument/2006/relationships/extended-properties" Target="/docProps/app.xml" Id="R985777fc61b54f5d" /><Relationship Type="http://schemas.openxmlformats.org/officeDocument/2006/relationships/officeDocument" Target="/ppt/presentation.xml" Id="Rd6438851fdda49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505ccc153a4fd7"/>
  </p:sldMasterIdLst>
  <p:notesMasterIdLst>
    <p:notesMasterId xmlns:r="http://schemas.openxmlformats.org/officeDocument/2006/relationships" r:id="R121c04bb2c5e425b"/>
  </p:notesMasterIdLst>
  <p:sldIdLst>
    <p:sldId xmlns:r="http://schemas.openxmlformats.org/officeDocument/2006/relationships" id="256" r:id="Rd62d6285fc2b40ce"/>
    <p:sldId xmlns:r="http://schemas.openxmlformats.org/officeDocument/2006/relationships" id="257" r:id="R2928e93af65c42cc"/>
    <p:sldId xmlns:r="http://schemas.openxmlformats.org/officeDocument/2006/relationships" id="258" r:id="Rbb2b8b5e708a4ffe"/>
    <p:sldId xmlns:r="http://schemas.openxmlformats.org/officeDocument/2006/relationships" id="259" r:id="R7de91eaba34a4be8"/>
    <p:sldId xmlns:r="http://schemas.openxmlformats.org/officeDocument/2006/relationships" id="260" r:id="R8c80a80da56b4ab7"/>
    <p:sldId xmlns:r="http://schemas.openxmlformats.org/officeDocument/2006/relationships" id="261" r:id="R1332232580c84e86"/>
    <p:sldId xmlns:r="http://schemas.openxmlformats.org/officeDocument/2006/relationships" id="262" r:id="R99915d0d265140b0"/>
    <p:sldId xmlns:r="http://schemas.openxmlformats.org/officeDocument/2006/relationships" id="263" r:id="R7dc81c308fa94353"/>
    <p:sldId xmlns:r="http://schemas.openxmlformats.org/officeDocument/2006/relationships" id="264" r:id="Re0bc00a350644b37"/>
    <p:sldId xmlns:r="http://schemas.openxmlformats.org/officeDocument/2006/relationships" id="265" r:id="Rb0d197594c6647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5ab87905c2442e" /><Relationship Type="http://schemas.openxmlformats.org/officeDocument/2006/relationships/slideMaster" Target="/ppt/slideMasters/slideMaster1.xml" Id="R51505ccc153a4fd7" /><Relationship Type="http://schemas.openxmlformats.org/officeDocument/2006/relationships/notesMaster" Target="/ppt/notesMasters/notesMaster1.xml" Id="R121c04bb2c5e425b" /><Relationship Type="http://schemas.openxmlformats.org/officeDocument/2006/relationships/presProps" Target="/ppt/presProps.xml" Id="R59468251c3054322" /><Relationship Type="http://schemas.openxmlformats.org/officeDocument/2006/relationships/tableStyles" Target="/ppt/tableStyles.xml" Id="R398b01ae1a614e56" /><Relationship Type="http://schemas.openxmlformats.org/officeDocument/2006/relationships/slide" Target="/ppt/slides/slide1.xml" Id="Rd62d6285fc2b40ce" /><Relationship Type="http://schemas.openxmlformats.org/officeDocument/2006/relationships/slide" Target="/ppt/slides/slide2.xml" Id="R2928e93af65c42cc" /><Relationship Type="http://schemas.openxmlformats.org/officeDocument/2006/relationships/slide" Target="/ppt/slides/slide3.xml" Id="Rbb2b8b5e708a4ffe" /><Relationship Type="http://schemas.openxmlformats.org/officeDocument/2006/relationships/slide" Target="/ppt/slides/slide4.xml" Id="R7de91eaba34a4be8" /><Relationship Type="http://schemas.openxmlformats.org/officeDocument/2006/relationships/slide" Target="/ppt/slides/slide5.xml" Id="R8c80a80da56b4ab7" /><Relationship Type="http://schemas.openxmlformats.org/officeDocument/2006/relationships/slide" Target="/ppt/slides/slide6.xml" Id="R1332232580c84e86" /><Relationship Type="http://schemas.openxmlformats.org/officeDocument/2006/relationships/slide" Target="/ppt/slides/slide7.xml" Id="R99915d0d265140b0" /><Relationship Type="http://schemas.openxmlformats.org/officeDocument/2006/relationships/slide" Target="/ppt/slides/slide8.xml" Id="R7dc81c308fa94353" /><Relationship Type="http://schemas.openxmlformats.org/officeDocument/2006/relationships/slide" Target="/ppt/slides/slide9.xml" Id="Re0bc00a350644b37" /><Relationship Type="http://schemas.openxmlformats.org/officeDocument/2006/relationships/slide" Target="/ppt/slides/slide10.xml" Id="Rb0d197594c6647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bd7c1192ee4d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a7b1e18208441b" /><Relationship Type="http://schemas.openxmlformats.org/officeDocument/2006/relationships/notesMaster" Target="/ppt/notesMasters/notesMaster1.xml" Id="R27f4f149c5694b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551d43e2384cc9" /><Relationship Type="http://schemas.openxmlformats.org/officeDocument/2006/relationships/notesMaster" Target="/ppt/notesMasters/notesMaster1.xml" Id="R63d2e90ce8d841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46ed6320a2478c" /><Relationship Type="http://schemas.openxmlformats.org/officeDocument/2006/relationships/notesMaster" Target="/ppt/notesMasters/notesMaster1.xml" Id="R19f90f9ec1f94e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7d8bbf3aea4073" /><Relationship Type="http://schemas.openxmlformats.org/officeDocument/2006/relationships/notesMaster" Target="/ppt/notesMasters/notesMaster1.xml" Id="R15f9b4f9fe7d46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8122905ec14f36" /><Relationship Type="http://schemas.openxmlformats.org/officeDocument/2006/relationships/notesMaster" Target="/ppt/notesMasters/notesMaster1.xml" Id="Re816731528d846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7885d52ea24724" /><Relationship Type="http://schemas.openxmlformats.org/officeDocument/2006/relationships/notesMaster" Target="/ppt/notesMasters/notesMaster1.xml" Id="Rdbd2f926707649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5c42fa3dc743c6" /><Relationship Type="http://schemas.openxmlformats.org/officeDocument/2006/relationships/notesMaster" Target="/ppt/notesMasters/notesMaster1.xml" Id="R401f94f6952140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0cef3894fe4884" /><Relationship Type="http://schemas.openxmlformats.org/officeDocument/2006/relationships/notesMaster" Target="/ppt/notesMasters/notesMaster1.xml" Id="R8c684a81a41745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5406f6bb534ff4" /><Relationship Type="http://schemas.openxmlformats.org/officeDocument/2006/relationships/notesMaster" Target="/ppt/notesMasters/notesMaster1.xml" Id="R8177e285c36349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fceefca8db4107" /><Relationship Type="http://schemas.openxmlformats.org/officeDocument/2006/relationships/notesMaster" Target="/ppt/notesMasters/notesMaster1.xml" Id="R1166f61b20304a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本稿用于本组设计讨论与后续正式汇报。软件验证对应 commit 945a5e3。没有虚构实车照片、成绩、CAD模型或成员信息。老师完整要求见 docs/COURSE_REQUIREMENTS.md。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来源：../GroupProject/1. DASE7503 Group Project_2026-27_1B.pdf，第2–4页。来源：../GroupProject/2. DASE7503 Group Project_QR Code and Gamefield.pdf，第1–3页。精细场地图3020×2000毫米。图示货架字母与坐标须现场确认。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来源：../GroupProject/3. Group Projects Materials.pdf，第2–9、13–15页。GPIO详情见 hardware/HARDWARE_PROFILE.md。460800为本项目串口配置，不是老师规定的波特率。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来源：本仓库 src/mecanum_task_manager、src/mecanum_navigation、src/mecanum_bringup、firmware/esp32。Jazzy构建和节点激活见CI #10。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来源：src/mecanum_task_manager/mecanum_task_manager/course_game.py。每件6个导航目标，共24个。退出卸货区后才增加delivery_sequences，软件序列数不能代替裁判计分。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来源：../GroupProject/2. DASE7503 Group Project_QR Code and Gamefield.pdf，第1页。来源：../GroupProject/4. DASE7503_Appendix.Samples of QR codes.pdf，第1–2页。示例码仅用于软件测试，实际配置必须逐项填写本组纸质码。实现：qr_reader.py 与 course_game.py。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来源：../GroupProject/1. DASE7503 Group Project_2026-27_1B.pdf，第2–3页。来源：../GroupProject/3. Group Projects Materials.pdf，第9页。原创概念方案见 hardware/MECHANICAL_DESIGN.md。没有完成SolidWorks实体建模或负载验收。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 #10，commit 945a5e3，2026-09-21全部成功。https://github.com/jzhg6/DASE7503-Mecanum-AMR/actions/runs/35599128070 。来源：docs/VALIDATION.md。测试使用合成传感器与模拟执行器，不测试实车物理表现。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来源：docs/HARDWARE_BRINGUP.md、docs/COURSE_ACCEPTANCE.md。源码编译libcamera与camera_ros对应器材说明第15页。仓库当前calibrated=false，实测尺寸为零，二维码为空，默认不能启动实车比赛。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来源：../GroupProject/1. DASE7503 Group Project_2026-27_1B.pdf，第1、3–4页。PPT展示安排需老师另行确认。参考仓库与许可见 docs/UPSTREAM_INTEGRATION.md、THIRD_PARTY_NOTICES.md。新增任务与固件代码由本项目编写，保留继承代码版权，不宣称全仓库从零原创。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10acc111140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c8fdf01b98494c" /><Relationship Type="http://schemas.openxmlformats.org/officeDocument/2006/relationships/slideLayout" Target="/ppt/slideLayouts/slideLayout1.xml" Id="R660c54074b65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0c54074b65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6be86bdca435c" /><Relationship Type="http://schemas.openxmlformats.org/officeDocument/2006/relationships/notesSlide" Target="/ppt/notesSlides/notesSlide1.xml" Id="R1d5ad2203ce642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e9a75121049cd" /><Relationship Type="http://schemas.openxmlformats.org/officeDocument/2006/relationships/notesSlide" Target="/ppt/notesSlides/notesSlide2.xml" Id="R4dfcbfd9385941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029b43c9b49ef" /><Relationship Type="http://schemas.openxmlformats.org/officeDocument/2006/relationships/notesSlide" Target="/ppt/notesSlides/notesSlide3.xml" Id="R5125d09e800547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fb1d6bf0949f6" /><Relationship Type="http://schemas.openxmlformats.org/officeDocument/2006/relationships/notesSlide" Target="/ppt/notesSlides/notesSlide4.xml" Id="R7caf3d560d5e4a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09f0275274658" /><Relationship Type="http://schemas.openxmlformats.org/officeDocument/2006/relationships/notesSlide" Target="/ppt/notesSlides/notesSlide5.xml" Id="Re774ef53913043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3e82754f84b96" /><Relationship Type="http://schemas.openxmlformats.org/officeDocument/2006/relationships/notesSlide" Target="/ppt/notesSlides/notesSlide6.xml" Id="R09d827ac878f42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50d9c099741b2" /><Relationship Type="http://schemas.openxmlformats.org/officeDocument/2006/relationships/notesSlide" Target="/ppt/notesSlides/notesSlide7.xml" Id="Rc83b2e77dadd4a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2b70091454f20" /><Relationship Type="http://schemas.openxmlformats.org/officeDocument/2006/relationships/notesSlide" Target="/ppt/notesSlides/notesSlide8.xml" Id="Rabb80aee1e1643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c77dcdaa64652" /><Relationship Type="http://schemas.openxmlformats.org/officeDocument/2006/relationships/notesSlide" Target="/ppt/notesSlides/notesSlide9.xml" Id="Rb5b68f4deac344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8a483daba42f8" /><Relationship Type="http://schemas.openxmlformats.org/officeDocument/2006/relationships/notesSlide" Target="/ppt/notesSlides/notesSlide10.xml" Id="Rae1f9274860946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C1DB8-48DC-4E8D-8B9A-755BFCDA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0D8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0D8D6"/>
                </a:solidFill>
                <a:latin typeface="Microsoft YaHei"/>
                <a:ea typeface="Microsoft YaHei"/>
                <a:cs typeface="Microsoft YaHei"/>
              </a:rPr>
              <a:t>DASE7503  2026–27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B8DA9-6076-4B3B-B3D8-19A3EB5D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麦克纳姆轮物流机器人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A7FDE-7AF1-40DA-ABDD-5523F744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项目设计与软件验证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73DCB-B5D0-4409-8A02-267112F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7DF"/>
                </a:solidFill>
                <a:latin typeface="Microsoft YaHei"/>
                <a:ea typeface="Microsoft YaHei"/>
                <a:cs typeface="Microsoft YaHei"/>
              </a:rPr>
              <a:t>设计阶段汇报  ·  2026年9月21日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25115-D6C9-4E92-BD77-88995A6F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7DF"/>
                </a:solidFill>
                <a:latin typeface="Microsoft YaHei"/>
                <a:ea typeface="Microsoft YaHei"/>
                <a:cs typeface="Microsoft YaHei"/>
              </a:rPr>
              <a:t>实车数据、SolidWorks 装配与成员贡献待本组补充</a:t>
            </a:r>
          </a:p>
        </p:txBody>
      </p:sp>
    </p:spTree>
    <p:extLst>
      <p:ext uri="{BB962C8B-B14F-4D97-AF65-F5344CB8AC3E}">
        <p14:creationId xmlns:p14="http://schemas.microsoft.com/office/powerpoint/2010/main" val="716654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72923-E327-4B89-80C6-F90479EB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比赛目标与验收边界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F88FE-D4D8-4C45-8085-8B5EC037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B424C-28DA-4677-91F0-68DE0935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180 秒自动任务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4440F-C812-4FD2-8915-FA14D0BA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相机识别 START 后计时，依次识别并搬运四个货架到目的区。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00B2A-6463-4997-A702-D90097E2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计分与约束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3508C-6090-4961-A035-6CA3F2B6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截止时目的区内每架 +5 分，每次撞墙 −2 分。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机器人和货架均须避墙，搬运过程货架必须离地。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10322-E059-42B7-9765-213B61E2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整机限制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9B750-7318-44F2-BE37-56100E46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147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最大尺寸为 300 × 300 × 180 mm，电池独立供电。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传感器、线缆及升降极限也需检查。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278A2-352E-482F-B02B-5B98BF27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最终交付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BCE3A-2436-43DE-8BAE-9908C7F7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实体机器人、SolidWorks Pack-and-Go、全部程序和汇报 PPT。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保留六类真实扫码截图。</a:t>
            </a:r>
          </a:p>
        </p:txBody>
      </p:sp>
    </p:spTree>
    <p:extLst>
      <p:ext uri="{BB962C8B-B14F-4D97-AF65-F5344CB8AC3E}">
        <p14:creationId xmlns:p14="http://schemas.microsoft.com/office/powerpoint/2010/main" val="1602315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A92C8-8CD9-43D7-A548-FA50D589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本届硬件与接口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42323-E09C-4DFE-BB23-FF4C7428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714875"/>
                <a:gridCol w="3857625"/>
              </a:tblGrid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</a:t>
                      </a:r>
                    </a:p>
                  </a:txBody>
                  <a:tcPr marL="152400" marR="152400" marT="114300" marB="114300">
                    <a:solidFill>
                      <a:srgbClr val="14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本项目配置</a:t>
                      </a:r>
                    </a:p>
                  </a:txBody>
                  <a:tcPr marL="152400" marR="152400" marT="114300" marB="114300">
                    <a:solidFill>
                      <a:srgbClr val="14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需要确认</a:t>
                      </a:r>
                    </a:p>
                  </a:txBody>
                  <a:tcPr marL="152400" marR="152400" marT="114300" marB="114300">
                    <a:solidFill>
                      <a:srgbClr val="142D3D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主控与通信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 5 + ESP32-S3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USB 串口 micro-ROS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UART0 43/44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460800，Domain 20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底盘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× 310 编码电机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 mm 麦轮，左右各2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轮序、方向、轮距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1040 counts/rev 实测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升降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× MG996 180°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 / GPIO8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负载、连杆、行程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稳定时间与机械限位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感知与电源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MS200 + Camera Module 3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 V 电池，经板卡供 Pi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雷达视野、图像清晰度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供电稳定与线缆连接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61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BA377-F9A0-4AC4-8C74-DC1179A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软件模块与职责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3D496-C2EB-4220-B296-6E627A1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619500"/>
                <a:gridCol w="4714875"/>
              </a:tblGrid>
              <a:tr h="866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运行位置</a:t>
                      </a:r>
                    </a:p>
                  </a:txBody>
                  <a:tcPr marL="152400" marR="152400" marT="114300" marB="114300">
                    <a:solidFill>
                      <a:srgbClr val="14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52400" marR="152400" marT="114300" marB="114300">
                    <a:solidFill>
                      <a:srgbClr val="14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52400" marR="152400" marT="114300" marB="114300">
                    <a:solidFill>
                      <a:srgbClr val="142D3D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 / ROS 2 Jazzy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course_mission + qr_reader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比赛状态、180秒截止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完整码身份核验和证据保存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 / ROS 2 Jazzy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Nav2 + SLAM / AMCL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雷达建图或地图定位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全向规划控制及近障停车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 / ROS 2 Jazzy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base_supervisor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使能与停止、状态新鲜度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静止后才允许举升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ESP32-S3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micro-ROS + 控制固件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轮速 PID、编码器里程计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速度看门狗与单舵机控制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420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8FA92-5C71-4E27-BECF-03AD218A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一次搬运的任务顺序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92751-0BFA-4DD8-88E9-61667E19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C6668-26A9-4F2A-BFB1-B271B364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01  到站核验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12ED5-2340-47B0-8037-CB20E301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导航到扫描位，等待当前货架的完整二维码。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错误货架或错误后缀不会触发取货。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64A8B-79EC-4EF1-8832-FCA4C052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02  进入与举升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7A47E-2964-4DAD-99A7-9768CE78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导航到已标定插入位，停车后请求举升。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等待控制器反馈及稳定时间。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EE273-B1E3-4C3B-B938-B9A0E05D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03  搬运与卸货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56139-CC96-4D06-8605-DF89342B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147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经退出位前往 END 扫描位，扫码后进入独立卸货位。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放下货架并退出，再执行下一件。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3FEBE-A872-4A1A-A50C-0597B61A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04  继续或结束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BE569-7597-4ED1-8AEB-DE6EE7F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四件完成、180秒截止或操作失败时停止。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停止后保持当时举升位置。</a:t>
            </a:r>
          </a:p>
        </p:txBody>
      </p:sp>
    </p:spTree>
    <p:extLst>
      <p:ext uri="{BB962C8B-B14F-4D97-AF65-F5344CB8AC3E}">
        <p14:creationId xmlns:p14="http://schemas.microsoft.com/office/powerpoint/2010/main" val="814490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E65FE-275F-4FA0-89C9-7C58FE3C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二维码协议与实车证据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F5151-CC29-4B5C-BB54-0FB4D07B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1BAD9-EC1F-4726-8510-F27D13BB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START    END    RACK[A–D]_XXXX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C9891-C9C2-415C-8642-64E517E1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后缀核验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7199A-7871-4CDE-B0E7-5187F8C2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XXXX 为四位字母或数字，每个货架分别配置完整码。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不能假设四个货架使用相同后缀。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8F954-787A-41A1-9956-C3B26BD7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真实扫码留证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23315-BECE-4521-9FEC-46B69AA3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433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保存相机标注 PNG、扫码 JSONL 和任务事件日志。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六类证据由实车拍摄获得。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40A5A-1AE3-4058-B0F0-5E4FF1F5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测试证据边界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14446-1325-4254-B89A-E3B6E656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672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合成 QR 图像已通过真实 OpenCV 解码测试。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该结果只验证软件，不充当相机现场截图。</a:t>
            </a:r>
          </a:p>
        </p:txBody>
      </p:sp>
    </p:spTree>
    <p:extLst>
      <p:ext uri="{BB962C8B-B14F-4D97-AF65-F5344CB8AC3E}">
        <p14:creationId xmlns:p14="http://schemas.microsoft.com/office/powerpoint/2010/main" val="1519182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7307B-2FBA-4CB5-8CF2-31DA57A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单舵机机构设计输入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EACF3-AE47-402D-AFE7-3602C0BB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34B16-DDCC-4C7E-A237-1DBCA77B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概念方案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0CC21-37B6-46C0-8240-FDAA3FAD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单 MG996 驱动平行四连杆平台，设置被动导向与机械限位。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重量由支撑结构承担。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5B31E-C6B3-448D-AA76-A94D6991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尺寸与受力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C03B8-1676-4A22-945C-15F99AD7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实测货架质量、脚柱内距、净空和承载面，再确定连杆与舵盘。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标称堵转转矩不能当持续能力。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4320A-43CB-4449-AD75-87F598BF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感知与装配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F8E0F-A040-48A7-8A60-D720F02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147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电池低位居中，扫码视线与雷达保持无遮挡。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所有部件及满升程应落在尺寸限制内。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3B13C-BE23-4AFD-B369-D779BFB2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制造前检查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5BB8C-0592-4968-B19E-557EE758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本组建立参数化 SolidWorks 装配，检查干涉和载荷保持。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确认孔位后导出 DXF / STL。</a:t>
            </a:r>
          </a:p>
        </p:txBody>
      </p:sp>
    </p:spTree>
    <p:extLst>
      <p:ext uri="{BB962C8B-B14F-4D97-AF65-F5344CB8AC3E}">
        <p14:creationId xmlns:p14="http://schemas.microsoft.com/office/powerpoint/2010/main" val="1334882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37FE4-A0A1-420D-B687-137A3B48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软件验证结果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677A7-BC98-4974-AE93-F02D71B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1571625"/>
                <a:gridCol w="6286500"/>
              </a:tblGrid>
              <a:tr h="828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152400" marR="152400" marT="114300" marB="114300">
                    <a:solidFill>
                      <a:srgbClr val="14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152400" marR="152400" marT="114300" marB="114300">
                    <a:solidFill>
                      <a:srgbClr val="14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验证范围</a:t>
                      </a:r>
                    </a:p>
                  </a:txBody>
                  <a:tcPr marL="152400" marR="152400" marT="114300" marB="114300">
                    <a:solidFill>
                      <a:srgbClr val="142D3D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规则与控制核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10项比赛规则测试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C运动学、PID及静态检查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ROS 通信与相机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24个导航目标、4次举升/放下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6类合成 QR 解码与证据写入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Nav2 / Jazzy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工作区构建测试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7个实际插件节点生命周期激活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ESP32-S3 固件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ESP-IDF 5.4.2 完整构建</a:t>
                      </a:r>
                    </a:p>
                    <a:p>
                      <a:r>
                        <a:rPr sz="1800" b="0">
                          <a:solidFill>
                            <a:srgbClr val="142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电机及舵机输出默认关闭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C2CFC-E1A2-4DEA-BEAD-B380C803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尚未证明：实际定位精度、载重能力、取货成功率及180秒比赛成绩</a:t>
            </a:r>
          </a:p>
        </p:txBody>
      </p:sp>
    </p:spTree>
    <p:extLst>
      <p:ext uri="{BB962C8B-B14F-4D97-AF65-F5344CB8AC3E}">
        <p14:creationId xmlns:p14="http://schemas.microsoft.com/office/powerpoint/2010/main" val="703491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87429-1662-47D6-83F6-51F63C00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实车部署与验收计划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A1CAB-EB08-485E-AF97-3C3FB3B3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2C18E-717B-47EE-8113-8B4DA37C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Linux 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915F-B596-4C23-8842-C70FF2A4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Pi 安装 Ubuntu 24.04 / Jazzy，按文档源码构建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libcamera、camera_ros 和 micro-ROS Agent。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5B02D-AEA1-477A-99B7-DCE48C18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架空测试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E8067-8505-4DC1-8495-177B2803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逐轮核验方向与编码器，校准轮距和 PID。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验证停指令、拔 USB、断 Agent 后停止。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346EF-6DF1-4DC8-A551-3AF8676B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地图与对接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01919-FA82-4CBE-A226-FF704F73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147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采集现场地图，填写各扫描、插入、退出和卸货位。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按载货最大包络修改 costmap。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F03D4-24EB-43E3-8E0A-C3FF19A8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分级比赛验收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00057-2E63-4CBC-979F-BE7EFCE6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先空载导航，再单件重复，最后完整180秒。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记录碰墙、离地间隙与目的区真实件数。</a:t>
            </a:r>
          </a:p>
        </p:txBody>
      </p:sp>
    </p:spTree>
    <p:extLst>
      <p:ext uri="{BB962C8B-B14F-4D97-AF65-F5344CB8AC3E}">
        <p14:creationId xmlns:p14="http://schemas.microsoft.com/office/powerpoint/2010/main" val="1505661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AD6D1-EF6A-48EF-9120-FA86B83C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提交安排与本组补充内容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93A9C-D419-4D80-8A45-9428C3BD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7B07F-0657-4D60-B815-B636DF4D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11月26日 17:00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9CC25-CD5D-4443-95D4-D25E4B19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向 HW103A 提交机器人，并归还老师要求的工具与材料。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E4A90-B5D2-4746-8F67-0A79D74A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11月26日 23:59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F6170-BD87-42EA-86EC-91FBE81E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Moodle 提交 SolidWorks Pack-and-Go 和全部程序。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程序采用 Jazzy / micro-ROS，PPT展示时间另行确认。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0EBD7-B4B3-44CA-8C48-7CCF5B56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正式汇报待补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FD546-D93B-4130-A449-B982CFA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1477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本组 CAD 图、装配照片、实测参数与六类扫码截图。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加入完整比赛结果和失败分析。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8F794-A7BC-4F9D-A72F-9B0F0D65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D83"/>
                </a:solidFill>
                <a:latin typeface="Microsoft YaHei"/>
                <a:ea typeface="Microsoft YaHei"/>
                <a:cs typeface="Microsoft YaHei"/>
              </a:rPr>
              <a:t>原创与贡献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EF78F-05CF-4FDD-AC93-475A514D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802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保留设计迭代及 git 记录，明确每名组员工作。</a:t>
            </a:r>
          </a:p>
          <a:p xmlns:a="http://schemas.openxmlformats.org/drawingml/2006/main">
            <a:pPr>
              <a:def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D3D"/>
                </a:solidFill>
                <a:latin typeface="Microsoft YaHei"/>
                <a:ea typeface="Microsoft YaHei"/>
                <a:cs typeface="Microsoft YaHei"/>
              </a:rPr>
              <a:t>引用上游并保留许可，区分继承代码与自行实现。</a:t>
            </a:r>
          </a:p>
        </p:txBody>
      </p:sp>
    </p:spTree>
    <p:extLst>
      <p:ext uri="{BB962C8B-B14F-4D97-AF65-F5344CB8AC3E}">
        <p14:creationId xmlns:p14="http://schemas.microsoft.com/office/powerpoint/2010/main" val="205723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2026-09-21T12:40:51.3760000Z</dcterms:created>
  <dcterms:modified xsi:type="dcterms:W3CDTF">2026-09-21T12:40:51.3760000Z</dcterms:modified>
</coreProperties>
</file>